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35560b1a9241e9" /><Relationship Type="http://schemas.openxmlformats.org/officeDocument/2006/relationships/extended-properties" Target="/docProps/app.xml" Id="Rc9f4ff19ba0144fc" /><Relationship Type="http://schemas.openxmlformats.org/officeDocument/2006/relationships/officeDocument" Target="/ppt/presentation.xml" Id="Rdb77848a8ad6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feb6a8b464c71"/>
  </p:sldMasterIdLst>
  <p:notesMasterIdLst>
    <p:notesMasterId xmlns:r="http://schemas.openxmlformats.org/officeDocument/2006/relationships" r:id="R3c96fcf7c43c4e26"/>
  </p:notesMasterIdLst>
  <p:sldIdLst>
    <p:sldId xmlns:r="http://schemas.openxmlformats.org/officeDocument/2006/relationships" id="256" r:id="R7e4fada352234a59"/>
    <p:sldId xmlns:r="http://schemas.openxmlformats.org/officeDocument/2006/relationships" id="257" r:id="R9749850a808944bd"/>
    <p:sldId xmlns:r="http://schemas.openxmlformats.org/officeDocument/2006/relationships" id="258" r:id="R991fd086b5454513"/>
    <p:sldId xmlns:r="http://schemas.openxmlformats.org/officeDocument/2006/relationships" id="259" r:id="Rea7c442752a14da2"/>
    <p:sldId xmlns:r="http://schemas.openxmlformats.org/officeDocument/2006/relationships" id="260" r:id="Rf43c372e982d4470"/>
    <p:sldId xmlns:r="http://schemas.openxmlformats.org/officeDocument/2006/relationships" id="261" r:id="Re1817d1e3627452f"/>
    <p:sldId xmlns:r="http://schemas.openxmlformats.org/officeDocument/2006/relationships" id="262" r:id="Raa1cd893f5ea4614"/>
    <p:sldId xmlns:r="http://schemas.openxmlformats.org/officeDocument/2006/relationships" id="263" r:id="Rb9ca5dd8e4c24af7"/>
    <p:sldId xmlns:r="http://schemas.openxmlformats.org/officeDocument/2006/relationships" id="264" r:id="R7158c2727bac48ed"/>
    <p:sldId xmlns:r="http://schemas.openxmlformats.org/officeDocument/2006/relationships" id="265" r:id="R159bcd2a0a0f40f8"/>
    <p:sldId xmlns:r="http://schemas.openxmlformats.org/officeDocument/2006/relationships" id="266" r:id="Rcc218ab92afc4732"/>
    <p:sldId xmlns:r="http://schemas.openxmlformats.org/officeDocument/2006/relationships" id="267" r:id="Rdfccb247195946d7"/>
    <p:sldId xmlns:r="http://schemas.openxmlformats.org/officeDocument/2006/relationships" id="268" r:id="R6cfc539d0db3491b"/>
    <p:sldId xmlns:r="http://schemas.openxmlformats.org/officeDocument/2006/relationships" id="269" r:id="Reeee66f7c7d440a3"/>
    <p:sldId xmlns:r="http://schemas.openxmlformats.org/officeDocument/2006/relationships" id="270" r:id="R5343fb66d2be4ecc"/>
    <p:sldId xmlns:r="http://schemas.openxmlformats.org/officeDocument/2006/relationships" id="271" r:id="R16dcf7d45f414753"/>
    <p:sldId xmlns:r="http://schemas.openxmlformats.org/officeDocument/2006/relationships" id="272" r:id="Rb9ed85e121a741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82c47010340c1" /><Relationship Type="http://schemas.openxmlformats.org/officeDocument/2006/relationships/slideMaster" Target="/ppt/slideMasters/slideMaster1.xml" Id="R24efeb6a8b464c71" /><Relationship Type="http://schemas.openxmlformats.org/officeDocument/2006/relationships/notesMaster" Target="/ppt/notesMasters/notesMaster1.xml" Id="R3c96fcf7c43c4e26" /><Relationship Type="http://schemas.openxmlformats.org/officeDocument/2006/relationships/presProps" Target="/ppt/presProps.xml" Id="Rdc5212bb63d54bac" /><Relationship Type="http://schemas.openxmlformats.org/officeDocument/2006/relationships/tableStyles" Target="/ppt/tableStyles.xml" Id="R6d01bc132c6f475b" /><Relationship Type="http://schemas.openxmlformats.org/officeDocument/2006/relationships/slide" Target="/ppt/slides/slide1.xml" Id="R7e4fada352234a59" /><Relationship Type="http://schemas.openxmlformats.org/officeDocument/2006/relationships/slide" Target="/ppt/slides/slide2.xml" Id="R9749850a808944bd" /><Relationship Type="http://schemas.openxmlformats.org/officeDocument/2006/relationships/slide" Target="/ppt/slides/slide3.xml" Id="R991fd086b5454513" /><Relationship Type="http://schemas.openxmlformats.org/officeDocument/2006/relationships/slide" Target="/ppt/slides/slide4.xml" Id="Rea7c442752a14da2" /><Relationship Type="http://schemas.openxmlformats.org/officeDocument/2006/relationships/slide" Target="/ppt/slides/slide5.xml" Id="Rf43c372e982d4470" /><Relationship Type="http://schemas.openxmlformats.org/officeDocument/2006/relationships/slide" Target="/ppt/slides/slide6.xml" Id="Re1817d1e3627452f" /><Relationship Type="http://schemas.openxmlformats.org/officeDocument/2006/relationships/slide" Target="/ppt/slides/slide7.xml" Id="Raa1cd893f5ea4614" /><Relationship Type="http://schemas.openxmlformats.org/officeDocument/2006/relationships/slide" Target="/ppt/slides/slide8.xml" Id="Rb9ca5dd8e4c24af7" /><Relationship Type="http://schemas.openxmlformats.org/officeDocument/2006/relationships/slide" Target="/ppt/slides/slide9.xml" Id="R7158c2727bac48ed" /><Relationship Type="http://schemas.openxmlformats.org/officeDocument/2006/relationships/slide" Target="/ppt/slides/slide10.xml" Id="R159bcd2a0a0f40f8" /><Relationship Type="http://schemas.openxmlformats.org/officeDocument/2006/relationships/slide" Target="/ppt/slides/slide11.xml" Id="Rcc218ab92afc4732" /><Relationship Type="http://schemas.openxmlformats.org/officeDocument/2006/relationships/slide" Target="/ppt/slides/slide12.xml" Id="Rdfccb247195946d7" /><Relationship Type="http://schemas.openxmlformats.org/officeDocument/2006/relationships/slide" Target="/ppt/slides/slide13.xml" Id="R6cfc539d0db3491b" /><Relationship Type="http://schemas.openxmlformats.org/officeDocument/2006/relationships/slide" Target="/ppt/slides/slide14.xml" Id="Reeee66f7c7d440a3" /><Relationship Type="http://schemas.openxmlformats.org/officeDocument/2006/relationships/slide" Target="/ppt/slides/slide15.xml" Id="R5343fb66d2be4ecc" /><Relationship Type="http://schemas.openxmlformats.org/officeDocument/2006/relationships/slide" Target="/ppt/slides/slide16.xml" Id="R16dcf7d45f414753" /><Relationship Type="http://schemas.openxmlformats.org/officeDocument/2006/relationships/slide" Target="/ppt/slides/slide17.xml" Id="Rb9ed85e121a741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3d51e141524d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e4369d37d4fac" /><Relationship Type="http://schemas.openxmlformats.org/officeDocument/2006/relationships/notesMaster" Target="/ppt/notesMasters/notesMaster1.xml" Id="Radad891c1c79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a231a1ebb4adc" /><Relationship Type="http://schemas.openxmlformats.org/officeDocument/2006/relationships/notesMaster" Target="/ppt/notesMasters/notesMaster1.xml" Id="Rb6b7057c43a047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4dd576978047f2" /><Relationship Type="http://schemas.openxmlformats.org/officeDocument/2006/relationships/notesMaster" Target="/ppt/notesMasters/notesMaster1.xml" Id="R0b9b6677f39b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3e210a2a8b40b5" /><Relationship Type="http://schemas.openxmlformats.org/officeDocument/2006/relationships/notesMaster" Target="/ppt/notesMasters/notesMaster1.xml" Id="Rc91ace0df661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0197eb06b34eea" /><Relationship Type="http://schemas.openxmlformats.org/officeDocument/2006/relationships/notesMaster" Target="/ppt/notesMasters/notesMaster1.xml" Id="Rb1cf1050267045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941996575a4ed3" /><Relationship Type="http://schemas.openxmlformats.org/officeDocument/2006/relationships/notesMaster" Target="/ppt/notesMasters/notesMaster1.xml" Id="Rd59e7318cee4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ae2a43ca64747" /><Relationship Type="http://schemas.openxmlformats.org/officeDocument/2006/relationships/notesMaster" Target="/ppt/notesMasters/notesMaster1.xml" Id="R34651bac5fff41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481c741a1f4f32" /><Relationship Type="http://schemas.openxmlformats.org/officeDocument/2006/relationships/notesMaster" Target="/ppt/notesMasters/notesMaster1.xml" Id="Rbd160f0f4fd141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be6fa951594e30" /><Relationship Type="http://schemas.openxmlformats.org/officeDocument/2006/relationships/notesMaster" Target="/ppt/notesMasters/notesMaster1.xml" Id="R9b55d7fd85e749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09ce80b4064192" /><Relationship Type="http://schemas.openxmlformats.org/officeDocument/2006/relationships/notesMaster" Target="/ppt/notesMasters/notesMaster1.xml" Id="Rad5ad53d8ec940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bc865672c4bd3" /><Relationship Type="http://schemas.openxmlformats.org/officeDocument/2006/relationships/notesMaster" Target="/ppt/notesMasters/notesMaster1.xml" Id="R23a1d9a3f0bc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b289b1a1e14741" /><Relationship Type="http://schemas.openxmlformats.org/officeDocument/2006/relationships/notesMaster" Target="/ppt/notesMasters/notesMaster1.xml" Id="Rb2241c67bde8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491409bbf047ea" /><Relationship Type="http://schemas.openxmlformats.org/officeDocument/2006/relationships/notesMaster" Target="/ppt/notesMasters/notesMaster1.xml" Id="Rd4900c5ac0a946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18f0dedb6842f4" /><Relationship Type="http://schemas.openxmlformats.org/officeDocument/2006/relationships/notesMaster" Target="/ppt/notesMasters/notesMaster1.xml" Id="Rd2500b77f1cc4e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f7aaeac25a4781" /><Relationship Type="http://schemas.openxmlformats.org/officeDocument/2006/relationships/notesMaster" Target="/ppt/notesMasters/notesMaster1.xml" Id="Rff919ab0b0a444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29d4638d2741b1" /><Relationship Type="http://schemas.openxmlformats.org/officeDocument/2006/relationships/notesMaster" Target="/ppt/notesMasters/notesMaster1.xml" Id="Ra6a0664ee2714e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d3d42887584bfc" /><Relationship Type="http://schemas.openxmlformats.org/officeDocument/2006/relationships/notesMaster" Target="/ppt/notesMasters/notesMaster1.xml" Id="R288b07e41482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Tesis Prayudhisti Basuki, terutama Bab III, halaman cetak 13–20. File: /home/kunthengx/Downloads/Proposal Tesis - Prayudhisti.pdf. Nama dan judul merujuk halaman sampul. Pembimbing: Dr. Ir. Hendra Kusuma, M.Eng.Sc.; Astria Nur Irfansyah, S.T., M.Eng., Ph.D.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Keberhasilan teknis bukan bukti akurasi model pada data nyata. Tidak ada persentase penyelesaian tesis yang ditetapkan.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Tesis Prayudhisti Basuki, terutama Bab III, halaman cetak 13–20. File: /home/kunthengx/Downloads/Proposal Tesis - Prayudhisti.pdf. Rumusan masalah halaman 2; batasan halaman 3; sumber data halaman 13. Usulan penyelarasan keluaran biner belum merupakan revisi proposal yang disetujui.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Dokumen rujukan implementasi: docs/AMR_MONTHLY.md; configs/amr_monthly_config.yaml; tests/.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Hasil load_amr_data pada anomaly-injection-v2-complete/sample_output/Data_AMR_Anomaly_v2.xlsx: training 362, validasi 78, test 78. File bulanan asli belum tersedia dalam proyek.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Contoh 2,4,9 adalah ilustrasi, bukan pembacaan nyata. aggregate_daily menghasilkan mean/min/max atas 31 fitur pengukuran dan turunan; reading_count ditambahkan. Label, ID dan tanggal bukan fitur model. Normalisasi tetap memakai statistik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Diagram contoh memakai window 3 hari untuk keterbacaan. Dataset aktual memakai 7 hari. Hari kosong tidak diisi nol. Duplikasi identik dihapus; nilai berbeda pada pelanggan/timestamp sama ditolak. Jumlah window yang dilewati dicetak. Imputasi pendek masih usulan eksperimen.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Informasi perubahan timestamp berasal dari penjelasan pengguna. Penyebab spesifik penyusutan record pada skrip injeksi belum diaudit. Jangan menyatakan penyebab tersebut telah diperbaiki.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Rujukan: utils/common_config.py, utils/mypath.py, losses/losses.py, utils/repository.py, utils/amr_dataset.py. Perbaikan neighbors belum memiliki hasil kinerja pada dataset bulanan asli.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Log /tmp/daily-final-tests.log: 13 tests OK. Log integrasi /tmp/carla-daily-check/. Data buatan berisi 1–3 pembacaan per hari, melintasi bulan, dengan hari kosong. Hasil sintetis tidak membuktikan kualitas deteksi pada data asli.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amr/Data_AMR_Anomaly_v2/classification/evaluation_test/metrics.json. F1 Normal 0.3529411765, Defect 0.0606060606, Theft 0.1578947368; accuracy 0.2435897436; macro-F1 0.190480658. Label berasal dari dataset hasil injeksi, bukan diagnosis gangguan lapangan.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amr/Data_AMR_Anomaly_v2/classification/evaluation_test/confusion_matrix.csv. Matrix [[15,24,24],[3,1,3],[4,1,3]], total 78. Anomali ke Normal 3+4=7; Normal ke anomali 24+24=48.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Tesis Prayudhisti Basuki, terutama Bab III, halaman cetak 13–20. File: /home/kunthengx/Downloads/Proposal Tesis - Prayudhisti.pdf. Min-max dalam Tabel 3.1 adalah normalisasi, bukan agregasi min/max. Review belum berarti revisi proposal disetujui. Sumber pembanding CARLA: https://arxiv.org/html/2308.09296v3 bagian 3.3 dan 3.4.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Tesis Prayudhisti Basuki, terutama Bab III, halaman cetak 13–20. File: /home/kunthengx/Downloads/Proposal Tesis - Prayudhisti.pdf. Tetapkan unit evaluasi harian atau window dan aturan label. Split pelanggan menilai generalisasi pelanggan baru; split waktu menilai periode berikutnya pada pelanggan yang dikenal. Hindari window overlap antar split waktu. Tidak menggunakan test untuk memilih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Tesis Prayudhisti Basuki, terutama Bab III, halaman cetak 13–20. File: /home/kunthengx/Downloads/Proposal Tesis - Prayudhisti.pdf. Baseline Isolation Forest, Autoencoder, SimCLR tercantum pada Tabel 3.4. Mean/min/max/count, imputasi terbatas, dan beberapa seed merupakan rekomendasi review. Jadwal dan hasil belum ditetapkan.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Tidak ada tenggat yang disepakati dalam percakapan. Data bulanan pengguna belum masuk proyek. Pelatihan utama dan evaluasi lapangan masih tertunda.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catatan pengerjaan proyek CARLA hingga 22 September 2026. Proposal Tesis Prayudhisti Basuki, terutama Bab III, halaman cetak 13–20. File: /home/kunthengx/Downloads/Proposal Tesis - Prayudhisti.pdf. Panduan implementasi: docs/AMR_MONTHLY.md. Hasil awal: metrics.json dan confusion_matrix.csv di amr/Data_AMR_Anomaly_v2/classification/evaluation_test/.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8db991a59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4dd95bebf649d7" /><Relationship Type="http://schemas.openxmlformats.org/officeDocument/2006/relationships/slideLayout" Target="/ppt/slideLayouts/slideLayout1.xml" Id="R2d116cc7a9b14e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116cc7a9b14e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693e4f9f544b8" /><Relationship Type="http://schemas.openxmlformats.org/officeDocument/2006/relationships/notesSlide" Target="/ppt/notesSlides/notesSlide1.xml" Id="R79a4700d22a9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dfab36e184ced" /><Relationship Type="http://schemas.openxmlformats.org/officeDocument/2006/relationships/notesSlide" Target="/ppt/notesSlides/notesSlide2.xml" Id="Ref70a0e13d7e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31ae4866f4abf" /><Relationship Type="http://schemas.openxmlformats.org/officeDocument/2006/relationships/notesSlide" Target="/ppt/notesSlides/notesSlide3.xml" Id="R1f8b63e46b474e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c1fd449d4f55" /><Relationship Type="http://schemas.openxmlformats.org/officeDocument/2006/relationships/notesSlide" Target="/ppt/notesSlides/notesSlide4.xml" Id="R9d5457cb824e4f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6836a08d44a08" /><Relationship Type="http://schemas.openxmlformats.org/officeDocument/2006/relationships/chart" Target="/ppt/slides/charts/chart1.xml" Id="Rc2c034e5c0254756" /><Relationship Type="http://schemas.openxmlformats.org/officeDocument/2006/relationships/notesSlide" Target="/ppt/notesSlides/notesSlide5.xml" Id="Rd99499a3bdb04b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921e9c9ba4441" /><Relationship Type="http://schemas.openxmlformats.org/officeDocument/2006/relationships/notesSlide" Target="/ppt/notesSlides/notesSlide6.xml" Id="R6a0c79b1b0aa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636fa168846f8" /><Relationship Type="http://schemas.openxmlformats.org/officeDocument/2006/relationships/notesSlide" Target="/ppt/notesSlides/notesSlide7.xml" Id="Rceef5ca6419846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d1e9d11a44f94" /><Relationship Type="http://schemas.openxmlformats.org/officeDocument/2006/relationships/notesSlide" Target="/ppt/notesSlides/notesSlide8.xml" Id="R3ed7a0afa27e4c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ae13b5524451e" /><Relationship Type="http://schemas.openxmlformats.org/officeDocument/2006/relationships/notesSlide" Target="/ppt/notesSlides/notesSlide9.xml" Id="R2ae8526557bf48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2a41dfa3a4380" /><Relationship Type="http://schemas.openxmlformats.org/officeDocument/2006/relationships/notesSlide" Target="/ppt/notesSlides/notesSlide10.xml" Id="R772ee386196a4f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da9f962f042a4" /><Relationship Type="http://schemas.openxmlformats.org/officeDocument/2006/relationships/chart" Target="/ppt/slides/charts/chart2.xml" Id="R3dc880f7c46841e3" /><Relationship Type="http://schemas.openxmlformats.org/officeDocument/2006/relationships/notesSlide" Target="/ppt/notesSlides/notesSlide11.xml" Id="R063a72d6da3d4d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4969c498944dc" /><Relationship Type="http://schemas.openxmlformats.org/officeDocument/2006/relationships/notesSlide" Target="/ppt/notesSlides/notesSlide12.xml" Id="Reb9093de9e684b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816f79b1348e7" /><Relationship Type="http://schemas.openxmlformats.org/officeDocument/2006/relationships/notesSlide" Target="/ppt/notesSlides/notesSlide13.xml" Id="R528fbaf1963041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bac608ecc4424" /><Relationship Type="http://schemas.openxmlformats.org/officeDocument/2006/relationships/notesSlide" Target="/ppt/notesSlides/notesSlide14.xml" Id="R697d027dfa2241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ead71af5e421c" /><Relationship Type="http://schemas.openxmlformats.org/officeDocument/2006/relationships/notesSlide" Target="/ppt/notesSlides/notesSlide15.xml" Id="R9d4f0a20222744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38129d77a4878" /><Relationship Type="http://schemas.openxmlformats.org/officeDocument/2006/relationships/notesSlide" Target="/ppt/notesSlides/notesSlide16.xml" Id="Rb0bb6bad1c2a48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3f5d8f7684f65" /><Relationship Type="http://schemas.openxmlformats.org/officeDocument/2006/relationships/notesSlide" Target="/ppt/notesSlides/notesSlide17.xml" Id="Rff7ca3d28007477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Jumlah record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Training</c:v>
                </c:pt>
                <c:pt idx="1">
                  <c:v>Validasi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362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A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F1-score (%)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Normal</c:v>
                </c:pt>
                <c:pt idx="1">
                  <c:v>Defect</c:v>
                </c:pt>
                <c:pt idx="2">
                  <c:v>Theft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35.3</c:v>
                </c:pt>
                <c:pt idx="1">
                  <c:v>6.1</c:v>
                </c:pt>
                <c:pt idx="2">
                  <c:v>15.8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A"/>
        </a:solidFill>
      </c:spPr>
    </c:plotArea>
    <c:plotVisOnly val="1"/>
  </c:chart>
  <c:spPr>
    <a:solidFill xmlns:a="http://schemas.openxmlformats.org/drawingml/2006/main">
      <a:srgbClr val="F4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B22BA-68AB-455F-9E67-CD34168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Laporan Kemajuan 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A5554-02F7-4E28-B77D-DB83A993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22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4D1D8-1651-4480-BFC3-6FF135E2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CB857-C92F-4913-9A0D-96ACF276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Deteksi Anomali Konsumsi Listrik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ED012-A83E-49CC-B828-A05C30AA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Contrastive Representation Learning</a:t>
            </a:r>
          </a:p>
          <a:p xmlns:a="http://schemas.openxmlformats.org/drawingml/2006/main">
            <a:pPr>
              <a:defRPr sz="255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berbasis data Automatic Meter Reading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7CF78-AB66-45B6-9B0C-A497066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Prayudhisti Basuki   ·   NRP 6022251075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2B58D-5462-4499-BF91-D4FFE81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Magister Teknik Elektro, Institut Teknologi Sepuluh Nopember</a:t>
            </a:r>
          </a:p>
        </p:txBody>
      </p:sp>
    </p:spTree>
    <p:extLst>
      <p:ext uri="{BB962C8B-B14F-4D97-AF65-F5344CB8AC3E}">
        <p14:creationId xmlns:p14="http://schemas.microsoft.com/office/powerpoint/2010/main" val="895349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D47E9-EEE7-465F-B7D3-5D93F345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Posisi penelitian saat 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8FE4F-36B0-4D35-BCB4-7FC0108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Alur perangkat lunak berjalan. Validasi penelitian pada data bulanan masih terbuka.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AD786-A3A4-4C98-96EE-55C8EA86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D7DE8-C8F8-4FC3-90C8-9BA53EB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Sudah berjalan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8F192-7439-41C9-9300-A6676EC1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Pretext, klasifikasi, ekspor hasil, dan evaluasi terpisah.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991A8-AF1D-45BF-B214-08E7AF4D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Sudah diuji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15AD5-35BF-4A1D-9FC0-ABA7AFD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3850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Loader bulanan dan agregasi harian lolos pengujian sintetis.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E5F8D-0D98-4AAD-A526-5B604C2C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Belum terjawab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74C1C-452E-4191-82E4-1389BA5D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3862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Apakah model mendeteksi anomali nyata pada riwayat pelanggan?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BCA98-40E7-4B2E-B0A0-05CBD732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Prioritas berikutnya: audit data asli, perbaikan injeksi, dan kesepakatan protokol evaluasi.</a:t>
            </a:r>
          </a:p>
        </p:txBody>
      </p:sp>
    </p:spTree>
    <p:extLst>
      <p:ext uri="{BB962C8B-B14F-4D97-AF65-F5344CB8AC3E}">
        <p14:creationId xmlns:p14="http://schemas.microsoft.com/office/powerpoint/2010/main" val="805243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5BD3A-19C4-4C52-80D5-0B1D4D2E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Tujuan dan ruang lingkup 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06614-44B8-4CB4-8A59-32B98259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Adaptasi CARLA untuk pembacaan AMR 3-fasa berfrekuensi rendah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46E89-3CB3-49EB-BF7E-6CFE843C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35A72-92E7-4A4D-9E42-ECBE5903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AB87E-D64B-47AB-9515-7D4F2334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1–3 pembacaan per hari, hari kosong, dan label anomali terbatas.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1C7A0-5AA6-4A19-A3F2-A693C4E9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Tujuan utama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58872-B896-4B10-8CC4-BA732939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3850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Mendeteksi normal atau anomali pada riwayat pelanggan.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55B84-3BAC-4FBA-AE6C-CA631B97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Pembuktian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5AE03-C38F-4611-9978-52AC1A58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3862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Bandingkan CARLA dengan baseline melalui split dan metrik yang sama.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39C09-9E0A-41AA-86BE-60927070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Deteksi jenis Defect/Theft merupakan eksperimen awal, belum menjadi target utama proposal.</a:t>
            </a:r>
          </a:p>
        </p:txBody>
      </p:sp>
    </p:spTree>
    <p:extLst>
      <p:ext uri="{BB962C8B-B14F-4D97-AF65-F5344CB8AC3E}">
        <p14:creationId xmlns:p14="http://schemas.microsoft.com/office/powerpoint/2010/main" val="1272842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F9528-F97F-4B14-B821-938ECF38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Status pekerjaan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39F8-A641-44A2-8810-256C1CF2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Status berdasarkan bukti pengerjaan, tanpa estimasi persentase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1A265-5E63-4034-AD38-59170C6B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2114550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2143125"/>
                <a:gridCol w="5238750"/>
              </a:tblGrid>
              <a:tr h="587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Paket pekerjaan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Bukti atau kebutuhan berikutnya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Perbaikan alur 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Selesai teknis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Training, checkpoint, path, dan ekspor berfungsi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Loader bulanan dan statistik harian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Teruji sintetis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Menunggu verifikasi file bulanan asli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Evaluasi eksperimen awal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Tersedia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Window 1 dan klasifikasi tiga kelas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Review metodologi proposal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Tersedia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Perlu keputusan pembimbing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Validasi anomali nyata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Belum dilakukan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Memerlukan data dan label acuan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323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B0D48-731C-43D3-B217-216B358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Dataset eksperimen awal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70241-CC01-4812-B0D5-75A95CAF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518 record dari 518 pelanggan pada file hasil injeksi yang tersedia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9EE2D-27B9-40D3-87F1-6B50CA0E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7524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c034e5c025475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5EEFE-1C4B-4FF9-99E8-525E94C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 record</a:t>
            </a:r>
          </a:p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pelanggan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57BAC-2C2C-45FD-9C43-11CF3AFD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Belum memiliki urutan harian</a:t>
            </a:r>
          </a:p>
          <a:p xmlns:a="http://schemas.openxmlformats.org/drawingml/2006/main">
            <a:pPr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untuk window 7 hari.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0181A-0F54-4EF5-93EB-3ACFDAF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Pembagian berdasarkan pelanggan. Angka ini tidak menggambarkan volume file bulanan asli.</a:t>
            </a:r>
          </a:p>
        </p:txBody>
      </p:sp>
    </p:spTree>
    <p:extLst>
      <p:ext uri="{BB962C8B-B14F-4D97-AF65-F5344CB8AC3E}">
        <p14:creationId xmlns:p14="http://schemas.microsoft.com/office/powerpoint/2010/main" val="1466167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80A00-69A5-408D-813E-138B3492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Representasi harian untuk data tidak teratur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54073-F913-4088-AE99-56EEA623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Contoh ilustratif satu pelanggan dengan tiga pembacaan dalam sehari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1C243-D8A2-4171-8F5C-52EA85B8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4286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2860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Jam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Nilai arus ilustratif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08:00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12:00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A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18:00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9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82740-3236-4B3D-B1C0-C4CA724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Ringkasan satu hari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EFF2A-1A57-44E2-8AD2-60840DA3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5334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Rata-rata 5 A</a:t>
            </a:r>
          </a:p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Minimum 2 A</a:t>
            </a:r>
          </a:p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Maksimum 9 A</a:t>
            </a:r>
          </a:p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Jumlah pembacaan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508D6-60A9-4A71-8CC7-F8528FEA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Implementasi: 31 fitur × 3 statistik + jumlah pembacaan = 94 input model.</a:t>
            </a:r>
          </a:p>
        </p:txBody>
      </p:sp>
    </p:spTree>
    <p:extLst>
      <p:ext uri="{BB962C8B-B14F-4D97-AF65-F5344CB8AC3E}">
        <p14:creationId xmlns:p14="http://schemas.microsoft.com/office/powerpoint/2010/main" val="12635423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9F777-CA8E-49DA-99B1-59B62E7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Hari kosong dan timestamp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030B7-B820-4E9F-AEEE-2225C78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Timestamp asli diperlukan untuk membedakan pembacaan sah dari duplikasi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75EE1-18CA-49E8-8FDC-F05C717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9537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657350"/>
                <a:gridCol w="1657350"/>
                <a:gridCol w="1657350"/>
                <a:gridCol w="1657350"/>
                <a:gridCol w="165735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Tanggal ilustratif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30 Jan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31 Jan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 Feb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 Feb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 Feb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Pembacaan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Kosong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Window 3 hari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Mulai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Lanjut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Terputus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Mulai lagi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BB04F-83BE-4846-BF63-57AD09CC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Batas bulan boleh dilintasi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967B2-E841-47E2-AC17-28C318F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14875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77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7724"/>
                </a:solidFill>
                <a:latin typeface="Arial"/>
                <a:ea typeface="Arial"/>
                <a:cs typeface="Arial"/>
              </a:rPr>
              <a:t>Hari tanpa data memutus 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8C183-AD27-40FF-9F7A-B88EB4C6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Kebijakan awal tanpa imputasi. Window eksperimen utama tetap 7 hari.</a:t>
            </a:r>
          </a:p>
        </p:txBody>
      </p:sp>
    </p:spTree>
    <p:extLst>
      <p:ext uri="{BB962C8B-B14F-4D97-AF65-F5344CB8AC3E}">
        <p14:creationId xmlns:p14="http://schemas.microsoft.com/office/powerpoint/2010/main" val="209943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09198-0D87-439A-A4E7-CECFB59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Temuan pada proses injeksi anomali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CDE0A-4CA3-4E18-8E0D-F74DA596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File hasil injeksi yang tersedia tidak mempertahankan riwayat temporal lengkap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0B165-F976-430A-B2B9-224DFF79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12755-5AF6-4B6E-B612-314FCABA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Dampak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8F3B4-4A30-468B-8099-DE1CA805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Satu record per pelanggan tidak dapat membentuk window harian 7–30 hari.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F0C12-6B1E-48B6-B7AA-C5F5EBF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Perbaikan yang perlu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03FC6-1C9B-48A4-82E6-10E78F54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3850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Kembali ke pembacaan asli dan pertahankan ID, timestamp, serta jumlah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6C2A5-EDD8-4E14-B699-8498F97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Bukti yang harus 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BD72F-92C7-4D2C-B283-B12C14B0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3862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Log lokasi injeksi, jenis, intensitas, durasi, dan label per pembacaan.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2868F-E5A0-4605-B29E-8D1E2598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Pemeriksaan dan perbaikan skrip injeksi masih pekerjaan berikutnya.</a:t>
            </a:r>
          </a:p>
        </p:txBody>
      </p:sp>
    </p:spTree>
    <p:extLst>
      <p:ext uri="{BB962C8B-B14F-4D97-AF65-F5344CB8AC3E}">
        <p14:creationId xmlns:p14="http://schemas.microsoft.com/office/powerpoint/2010/main" val="1010485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61D67-C3B7-466E-A5B4-4ED7C29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Perbaikan teknis yang telah selesai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D3065-3BAE-4A87-BA16-1B61C1D0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Perubahan membuat eksperimen dapat dijalankan dan ditelusuri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6C1A6-90A1-42BE-81EB-0680D11F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048125"/>
                <a:gridCol w="3762375"/>
              </a:tblGrid>
              <a:tr h="587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Masalah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Perubahan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Manfaat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Path dataset berulang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Resolver nama file dan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File ditemukan dari argumen --fname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Dimensi dan batch tidak cocok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Perbaikan input LSTM dan loss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Batch kecil dapat diproses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Normalisasi dan checkpoint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Statistik training dan tipe nilai kompatibel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Evaluasi dan pemuatan ulang berjalan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Tetangga dari vektor acak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Nearest/furthest untuk tiap sampel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Pasangan mengikuti representasi sampel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Beberapa file per bulan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Loader dan agregasi harian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Riwayat per pelanggan dapat dibentuk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210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5DABB-1FBC-4933-864B-FD34DBBB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Bukti pengujian implementasi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8398F-DFEA-4171-8C5E-59BBE592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Pengujian teknis terpisah dari pembuktian performa deteksi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AAAF7-793C-400B-871F-C774B975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E48AD-7043-41C3-A85D-B4F558FD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28850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F9622-9443-4728-A848-DA9FC7B2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tes otomatis lulus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B6DD8-A890-4A96-83C3-11F4E7B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Cakupan pengujian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A4E5-B3FD-42AB-A5A1-79C53583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9875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Pemisahan pelanggan dan normalisasi</a:t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Path relatif serta absolut</a:t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Tetangga per sampel tanpa self-match</a:t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Agregasi, duplikasi, dan jeda tanggal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F0C96-2D3E-4731-92BB-C7B71CC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Uji integrasi sintetis: pretext, klasifikasi, dan evaluasi berhasil; training satu epoch per tahap.</a:t>
            </a:r>
          </a:p>
        </p:txBody>
      </p:sp>
    </p:spTree>
    <p:extLst>
      <p:ext uri="{BB962C8B-B14F-4D97-AF65-F5344CB8AC3E}">
        <p14:creationId xmlns:p14="http://schemas.microsoft.com/office/powerpoint/2010/main" val="6913110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23B4B-6A9F-4FED-A616-6493ABF5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Hasil awal menunjukkan ruang perbaikan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C0038-EDB7-4FC7-A346-F8783CBD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F1-score per kelas (%). Eksperimen lama: window 1 dan 78 sampel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93A35-E17A-4575-93AA-80D071C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2333625"/>
          <a:ext xmlns:a="http://schemas.openxmlformats.org/drawingml/2006/main" cx="7524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c880f7c46841e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72A5C-3C2C-46D9-9C4F-7B90A59B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24,4%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15BB9-D9EB-4F54-8D16-40F12AB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81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Akurasi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A864B-5873-47C5-A0A3-DD2E326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0047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8772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C87724"/>
                </a:solidFill>
                <a:latin typeface="Arial"/>
                <a:ea typeface="Arial"/>
                <a:cs typeface="Arial"/>
              </a:rPr>
              <a:t>0,190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1AABE-9828-49E6-9D87-3FAA1F2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005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81143-E208-48C9-B5C2-D0F0D788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Hasil ini mendahului perbaikan neighbors dan agregasi harian 94 fitur.</a:t>
            </a:r>
          </a:p>
        </p:txBody>
      </p:sp>
    </p:spTree>
    <p:extLst>
      <p:ext uri="{BB962C8B-B14F-4D97-AF65-F5344CB8AC3E}">
        <p14:creationId xmlns:p14="http://schemas.microsoft.com/office/powerpoint/2010/main" val="18403490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93F16-D0BC-46E4-8008-BB6C6398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Kesalahan deteksi pada eksperimen awal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15780-283F-480A-9D86-A9C7CDFC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Confusion matrix tiga kelas. Baris = label acuan, kolom = prediksi.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873CC-2FD9-46BA-BCA6-97525E26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723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524000"/>
                <a:gridCol w="1524000"/>
                <a:gridCol w="15240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Acuan / Prediksi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Defect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Theft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CD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A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AE6D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Defect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A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CD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AE6D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Theft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A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AE6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CDEB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98189-F37D-47BA-96E7-96753DA3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C8772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C87724"/>
                </a:solidFill>
                <a:latin typeface="Arial"/>
                <a:ea typeface="Arial"/>
                <a:cs typeface="Arial"/>
              </a:rPr>
              <a:t>7 dari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27910-763D-4C0E-88B2-E15A852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2905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sampel berlabel anomali</a:t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diprediksi Normal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85BF7-7205-44FB-9729-8282068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Sebanyak 48 dari 63 sampel Normal masuk kelas anomali. Label belum mewakili kasus nyata terverifikasi.</a:t>
            </a:r>
          </a:p>
        </p:txBody>
      </p:sp>
    </p:spTree>
    <p:extLst>
      <p:ext uri="{BB962C8B-B14F-4D97-AF65-F5344CB8AC3E}">
        <p14:creationId xmlns:p14="http://schemas.microsoft.com/office/powerpoint/2010/main" val="1091587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1F850-53BA-49BC-BB6F-7B11937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Penyelarasan proposal dan implementasi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5B45C-2B49-40AB-B04A-BCA7F383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Rekomendasi review untuk dibahas dengan pembimbing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9F45C-41B3-4943-860E-787CBB4A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857625"/>
                <a:gridCol w="4524375"/>
              </a:tblGrid>
              <a:tr h="587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Bagian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Temuan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Penyesuaian yang diusulkan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Agregasi harian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Proposal memakai rata-rata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Bandingkan mean dengan mean/min/max/count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Normalisasi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Proposal per pelanggan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Selaraskan dengan split waktu atau pelanggan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Tujuan keluaran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Proposal normal vs anomali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Utamakan evaluasi biner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Loss dan skor CARLA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Uraian belum konsisten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Cocokkan definisi dengan artikel dan kode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Label evaluasi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Test asli belum jelas acuannya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Tentukan validasi ahli atau bukti lapangan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254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9F9D9-A8FB-4AF5-B466-453490F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Rancangan evaluasi yang dapat dipertanggungjawabkan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3E37C-9780-4512-ABBA-01D6449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Usulan protokol sebelum eksperimen utama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66C7C-239D-453D-8967-43B85351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610AF-1478-4740-AFD7-B82EF332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BC0C3-D0CB-4C1A-9116-16F79E3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Pelajari representasi dan statistik normalisasi dari data training saja.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78522-8A52-45E0-9E54-AFAAB330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CDED7-AAF0-447C-A486-3232DDB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3850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Pilih window, tetangga, arsitektur, dan threshold.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C5FAC-FAC5-4E98-BB32-97655590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F2461-D04A-47A1-BB6B-EF29D0E2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3862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Bekukan pengaturan dan ukur performa pada data terpisah.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B020A-6D26-4A1D-B6C6-C865057A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Label sintetis menilai skenario buatan. Klaim anomali nyata memerlukan label acuan independen.</a:t>
            </a:r>
          </a:p>
        </p:txBody>
      </p:sp>
    </p:spTree>
    <p:extLst>
      <p:ext uri="{BB962C8B-B14F-4D97-AF65-F5344CB8AC3E}">
        <p14:creationId xmlns:p14="http://schemas.microsoft.com/office/powerpoint/2010/main" val="2131776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9C647-CAAD-4F82-8E07-1EC359CC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Agenda eksperimen setelah audit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D792B-1146-4FF9-9B38-EE15EE98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Daftar pembanding yang diusulkan, bukan hasil yang sudah diperoleh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E06E5-7EB4-466A-9F93-D08005EC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0953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000500"/>
                <a:gridCol w="3238500"/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Pertanyaan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Perbandingan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Dasar keputusan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Apakah ekstrem membantu?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Mean vs mean/min/max/count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AU-PR dan F1 validasi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Bagaimana hari kosong ditangani?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Window lengkap vs imputasi pendek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Performa dan cakupan window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Berapa panjang riwayat?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7, 14, dan 30 hari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Performa dan jumlah sampel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Apakah CARLA memberi manfaat?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Isolation Forest, AE, SimCLR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Split dan anggaran yang sebanding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162AE-A420-4007-8526-A28D8CDF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Catat beberapa seed, waktu komputasi, false alarm, dan proporsi data yang dapat dievaluasi.</a:t>
            </a:r>
          </a:p>
        </p:txBody>
      </p:sp>
    </p:spTree>
    <p:extLst>
      <p:ext uri="{BB962C8B-B14F-4D97-AF65-F5344CB8AC3E}">
        <p14:creationId xmlns:p14="http://schemas.microsoft.com/office/powerpoint/2010/main" val="3066541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5180C-CDCD-496F-BE72-B4D61712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Rencana kerja dan kebutuhan keputusan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91CB4-691C-49F9-86BF-D037D504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Urutan berdasarkan dependensi pekerjaan, belum berupa jadwal tanggal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9309E-957F-48B5-B2AE-AF82987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53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  <a:gridCol w="333375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Tahap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Keluaran yang ditargetkan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Syarat lanjut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 Audit data bulanan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Profil timestamp, missing, duplikasi, dan 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File bulanan asli tersedia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 Audit injeksi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Data sintetis yang menjaga struktur waktu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Aturan domain dan log injeksi jelas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3. Sepakati metodologi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Split, label acuan, target biner, metrik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Persetujuan pembimbing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 Jalankan eksperimen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Baseline, ablasi, dan evaluasi final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Protokol dibekukan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B582C-484C-4DAA-8F4D-C447C222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Keputusan utama: sumber label nyata dan skenario penggunaan pada pelanggan baru atau pelanggan lama.</a:t>
            </a:r>
          </a:p>
        </p:txBody>
      </p:sp>
    </p:spTree>
    <p:extLst>
      <p:ext uri="{BB962C8B-B14F-4D97-AF65-F5344CB8AC3E}">
        <p14:creationId xmlns:p14="http://schemas.microsoft.com/office/powerpoint/2010/main" val="18331639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7BDF9-970E-4027-94CD-16C762F3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Fokus tahap berikutnya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5DDE8-3DFB-4993-89E9-C9B90CC6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Data asli dan protokol evaluasi menentukan kekuatan hasil tesis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74876-66CA-4686-916B-CFCF1447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FF252-6D4C-42C2-B17F-6CB25D46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Alur teknis sudah siap</a:t>
            </a:r>
          </a:p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untuk verifikasi data bulanan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AC5AF-B6D2-4A5F-AAD8-AB91C70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Pembuktian ilmiah berikutnya: apakah perbaikan representasi</a:t>
            </a:r>
          </a:p>
          <a:p xmlns:a="http://schemas.openxmlformats.org/drawingml/2006/main">
            <a:pPr>
              <a:defRPr sz="2250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dan injeksi meningkatkan deteksi pada data yang relevan?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B00C7-C655-4748-9273-63410D4C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CC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CD8"/>
                </a:solidFill>
                <a:latin typeface="Arial"/>
                <a:ea typeface="Arial"/>
                <a:cs typeface="Arial"/>
              </a:rPr>
              <a:t>Bahan diskusi pembimbing: label acuan, split data, dan eksperimen pembanding</a:t>
            </a:r>
          </a:p>
        </p:txBody>
      </p:sp>
    </p:spTree>
    <p:extLst>
      <p:ext uri="{BB962C8B-B14F-4D97-AF65-F5344CB8AC3E}">
        <p14:creationId xmlns:p14="http://schemas.microsoft.com/office/powerpoint/2010/main" val="1259882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2026-09-21T17:09:09.5410000Z</dcterms:created>
  <dcterms:modified xsi:type="dcterms:W3CDTF">2026-09-21T17:09:09.5410000Z</dcterms:modified>
</coreProperties>
</file>